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371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1F2937"/>
                </a:solidFill>
                <a:latin typeface="Arial"/>
              </a:rPr>
              <a:t>GoEmotions-RoBERTa-XAI Detailed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2984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004080"/>
                </a:solidFill>
                <a:latin typeface="Arial"/>
              </a:rPr>
              <a:t>Reference-style publication diagram with dataset flow, training core, calibration, and final report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" y="1481328"/>
            <a:ext cx="2148840" cy="2606040"/>
          </a:xfrm>
          <a:prstGeom prst="roundRect">
            <a:avLst/>
          </a:prstGeom>
          <a:solidFill>
            <a:srgbClr val="F3ECFF"/>
          </a:solidFill>
          <a:ln w="1905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609344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45920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I finally
feel calm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6" y="1609344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645920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This update
made me smile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6192" y="1609344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3624" y="1645920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I am nervous
about tomorrow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40280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276856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Proud of
this result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2240280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276856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Still a little
sad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36192" y="2240280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63624" y="2276856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Grateful for
the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71216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2907792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That joke was
actually funny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" y="2871216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07792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I love this
community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36192" y="2871216"/>
            <a:ext cx="576072" cy="576072"/>
          </a:xfrm>
          <a:prstGeom prst="rect">
            <a:avLst/>
          </a:prstGeom>
          <a:solidFill>
            <a:srgbClr val="EAD5FF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3624" y="2907792"/>
            <a:ext cx="5212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" b="1">
                <a:solidFill>
                  <a:srgbClr val="4A235A"/>
                </a:solidFill>
                <a:latin typeface="Arial"/>
              </a:rPr>
              <a:t>Frustrated, but
still hopeful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3584448"/>
            <a:ext cx="186537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1F2937"/>
                </a:solidFill>
                <a:latin typeface="Arial"/>
              </a:rPr>
              <a:t>GoEmotions Reddit
comment grid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15184" y="1188720"/>
            <a:ext cx="20299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1">
                <a:solidFill>
                  <a:srgbClr val="1F2937"/>
                </a:solidFill>
                <a:latin typeface="Arial"/>
              </a:rPr>
              <a:t>Prepare token batches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1188720"/>
            <a:ext cx="17373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1">
                <a:solidFill>
                  <a:srgbClr val="1F2937"/>
                </a:solidFill>
                <a:latin typeface="Arial"/>
              </a:rPr>
              <a:t>Sequence of batches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168249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80360" y="163677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34640" y="159105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88920" y="2103120"/>
            <a:ext cx="621792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4A235A"/>
                </a:solidFill>
                <a:latin typeface="Arial"/>
              </a:rPr>
              <a:t>Batch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168249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77640" y="163677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31920" y="159105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103120"/>
            <a:ext cx="621792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4A235A"/>
                </a:solidFill>
                <a:latin typeface="Arial"/>
              </a:rPr>
              <a:t>Batch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5776" y="1700784"/>
            <a:ext cx="310896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Arial"/>
              </a:rPr>
              <a:t>...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41264" y="168249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95544" y="163677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49824" y="1591056"/>
            <a:ext cx="475488" cy="475488"/>
          </a:xfrm>
          <a:prstGeom prst="rect">
            <a:avLst/>
          </a:prstGeom>
          <a:solidFill>
            <a:srgbClr val="C78CF2"/>
          </a:solidFill>
          <a:ln w="12700">
            <a:solidFill>
              <a:srgbClr val="5B2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04104" y="2103120"/>
            <a:ext cx="621792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4A235A"/>
                </a:solidFill>
                <a:latin typeface="Arial"/>
              </a:rPr>
              <a:t>Batch 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2157984"/>
            <a:ext cx="4160520" cy="2697480"/>
          </a:xfrm>
          <a:prstGeom prst="roundRect">
            <a:avLst/>
          </a:prstGeom>
          <a:solidFill>
            <a:srgbClr val="F9F2FB"/>
          </a:solidFill>
          <a:ln w="15240">
            <a:solidFill>
              <a:srgbClr val="D1B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999232" y="2304288"/>
            <a:ext cx="1417320" cy="347472"/>
          </a:xfrm>
          <a:prstGeom prst="roundRect">
            <a:avLst/>
          </a:prstGeom>
          <a:solidFill>
            <a:srgbClr val="FFF8D8"/>
          </a:solidFill>
          <a:ln w="13970">
            <a:solidFill>
              <a:srgbClr val="B07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663440" y="2304288"/>
            <a:ext cx="1417320" cy="347472"/>
          </a:xfrm>
          <a:prstGeom prst="roundRect">
            <a:avLst/>
          </a:prstGeom>
          <a:solidFill>
            <a:srgbClr val="FFF0E2"/>
          </a:solidFill>
          <a:ln w="1397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54096" y="2322576"/>
            <a:ext cx="1307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70" b="1">
                <a:solidFill>
                  <a:srgbClr val="6B4E00"/>
                </a:solidFill>
                <a:latin typeface="Arial"/>
              </a:rPr>
              <a:t>Asymmetric Loss
(ASL)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36592" y="2322576"/>
            <a:ext cx="127101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1">
                <a:solidFill>
                  <a:srgbClr val="8A4B08"/>
                </a:solidFill>
                <a:latin typeface="Arial"/>
              </a:rPr>
              <a:t>Class Weights
+ Threshold Tune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10128" y="3026664"/>
            <a:ext cx="155448" cy="960120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84448" y="3182112"/>
            <a:ext cx="155448" cy="804672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58768" y="3346704"/>
            <a:ext cx="155448" cy="640080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33088" y="3529584"/>
            <a:ext cx="155448" cy="457200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45152" y="3557016"/>
            <a:ext cx="347472" cy="292608"/>
          </a:xfrm>
          <a:prstGeom prst="roundRect">
            <a:avLst/>
          </a:prstGeom>
          <a:solidFill>
            <a:srgbClr val="C9D8F7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30368" y="3529584"/>
            <a:ext cx="155448" cy="457200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04688" y="3346704"/>
            <a:ext cx="155448" cy="640080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779008" y="3182112"/>
            <a:ext cx="155448" cy="804672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53328" y="3026664"/>
            <a:ext cx="155448" cy="960120"/>
          </a:xfrm>
          <a:prstGeom prst="rect">
            <a:avLst/>
          </a:prstGeom>
          <a:solidFill>
            <a:srgbClr val="D7E7FF"/>
          </a:solidFill>
          <a:ln w="12700">
            <a:solidFill>
              <a:srgbClr val="6D8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9040" y="4169664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Arial"/>
              </a:rPr>
              <a:t>DeBERTa-v3 fine-tuning core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13632" y="4425696"/>
            <a:ext cx="199339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40" b="0">
                <a:solidFill>
                  <a:srgbClr val="004080"/>
                </a:solidFill>
                <a:latin typeface="Arial"/>
              </a:rPr>
              <a:t>encoder backbone + multilabel head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79392" y="5010912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90288" y="5010912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01184" y="5010912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79392" y="5321808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90288" y="5321808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901184" y="5321808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0" y="5321808"/>
            <a:ext cx="219456" cy="219456"/>
          </a:xfrm>
          <a:prstGeom prst="rect">
            <a:avLst/>
          </a:prstGeom>
          <a:solidFill>
            <a:srgbClr val="FF9F2F"/>
          </a:solidFill>
          <a:ln w="12700">
            <a:solidFill>
              <a:srgbClr val="C96A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11880" y="5998464"/>
            <a:ext cx="2615184" cy="841248"/>
          </a:xfrm>
          <a:prstGeom prst="roundRect">
            <a:avLst/>
          </a:prstGeom>
          <a:solidFill>
            <a:srgbClr val="FFF8D8"/>
          </a:solidFill>
          <a:ln w="16510">
            <a:solidFill>
              <a:srgbClr val="D3B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03904" y="6181344"/>
            <a:ext cx="223113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6B4E00"/>
                </a:solidFill>
                <a:latin typeface="Arial"/>
              </a:rPr>
              <a:t>Threshold optimization layer
(validation-only per-class tuning)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0" y="6016752"/>
            <a:ext cx="1847088" cy="7498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8A8F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729984" y="6236208"/>
            <a:ext cx="137160" cy="13716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C98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86016" y="6236208"/>
            <a:ext cx="137160" cy="13716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C98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242048" y="6236208"/>
            <a:ext cx="137160" cy="13716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C98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98080" y="6236208"/>
            <a:ext cx="137160" cy="13716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C98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754112" y="6236208"/>
            <a:ext cx="137160" cy="13716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C98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28432" y="6163056"/>
            <a:ext cx="2743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Arial"/>
              </a:rPr>
              <a:t>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84848" y="6473952"/>
            <a:ext cx="141732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80" b="0">
                <a:solidFill>
                  <a:srgbClr val="1F2937"/>
                </a:solidFill>
                <a:latin typeface="Arial"/>
              </a:rPr>
              <a:t>7-d probability vector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442448" y="4736592"/>
            <a:ext cx="2761488" cy="1609344"/>
          </a:xfrm>
          <a:prstGeom prst="roundRect">
            <a:avLst/>
          </a:prstGeom>
          <a:solidFill>
            <a:srgbClr val="EFFAF1"/>
          </a:solidFill>
          <a:ln w="20320">
            <a:solidFill>
              <a:srgbClr val="4C9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53344" y="4882896"/>
            <a:ext cx="213969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Arial"/>
              </a:rPr>
              <a:t>Prediction + XAI
fusion block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08208" y="5266944"/>
            <a:ext cx="204825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1">
                <a:solidFill>
                  <a:srgbClr val="2A5E2A"/>
                </a:solidFill>
                <a:latin typeface="Arial"/>
              </a:rPr>
              <a:t>[ Probabilities ; Thresholds ;
Important Tokens 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881360" y="5669280"/>
            <a:ext cx="182880" cy="164592"/>
          </a:xfrm>
          <a:prstGeom prst="rect">
            <a:avLst/>
          </a:prstGeom>
          <a:solidFill>
            <a:srgbClr val="C8F1C5"/>
          </a:solidFill>
          <a:ln w="12700">
            <a:solidFill>
              <a:srgbClr val="68A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1192256" y="5669280"/>
            <a:ext cx="182880" cy="164592"/>
          </a:xfrm>
          <a:prstGeom prst="rect">
            <a:avLst/>
          </a:prstGeom>
          <a:solidFill>
            <a:srgbClr val="C8F1C5"/>
          </a:solidFill>
          <a:ln w="12700">
            <a:solidFill>
              <a:srgbClr val="68A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1503152" y="5669280"/>
            <a:ext cx="182880" cy="164592"/>
          </a:xfrm>
          <a:prstGeom prst="rect">
            <a:avLst/>
          </a:prstGeom>
          <a:solidFill>
            <a:srgbClr val="C8F1C5"/>
          </a:solidFill>
          <a:ln w="12700">
            <a:solidFill>
              <a:srgbClr val="68A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814048" y="5669280"/>
            <a:ext cx="182880" cy="164592"/>
          </a:xfrm>
          <a:prstGeom prst="rect">
            <a:avLst/>
          </a:prstGeom>
          <a:solidFill>
            <a:srgbClr val="C8F1C5"/>
          </a:solidFill>
          <a:ln w="12700">
            <a:solidFill>
              <a:srgbClr val="68A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124944" y="5669280"/>
            <a:ext cx="182880" cy="164592"/>
          </a:xfrm>
          <a:prstGeom prst="rect">
            <a:avLst/>
          </a:prstGeom>
          <a:solidFill>
            <a:srgbClr val="C8F1C5"/>
          </a:solidFill>
          <a:ln w="12700">
            <a:solidFill>
              <a:srgbClr val="68A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027664" y="5925312"/>
            <a:ext cx="201168" cy="164592"/>
          </a:xfrm>
          <a:prstGeom prst="rect">
            <a:avLst/>
          </a:prstGeom>
          <a:solidFill>
            <a:srgbClr val="DCC7FF"/>
          </a:solidFill>
          <a:ln w="12700">
            <a:solidFill>
              <a:srgbClr val="896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375136" y="5925312"/>
            <a:ext cx="201168" cy="164592"/>
          </a:xfrm>
          <a:prstGeom prst="rect">
            <a:avLst/>
          </a:prstGeom>
          <a:solidFill>
            <a:srgbClr val="DCC7FF"/>
          </a:solidFill>
          <a:ln w="12700">
            <a:solidFill>
              <a:srgbClr val="896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1722608" y="5925312"/>
            <a:ext cx="201168" cy="164592"/>
          </a:xfrm>
          <a:prstGeom prst="rect">
            <a:avLst/>
          </a:prstGeom>
          <a:solidFill>
            <a:srgbClr val="DCC7FF"/>
          </a:solidFill>
          <a:ln w="12700">
            <a:solidFill>
              <a:srgbClr val="896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070080" y="5925312"/>
            <a:ext cx="201168" cy="164592"/>
          </a:xfrm>
          <a:prstGeom prst="rect">
            <a:avLst/>
          </a:prstGeom>
          <a:solidFill>
            <a:srgbClr val="DCC7FF"/>
          </a:solidFill>
          <a:ln w="12700">
            <a:solidFill>
              <a:srgbClr val="896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2682728" y="5669280"/>
            <a:ext cx="31089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Arial"/>
              </a:rPr>
              <a:t>...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682728" y="5925312"/>
            <a:ext cx="31089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Arial"/>
              </a:rPr>
              <a:t>...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87000" y="6912864"/>
            <a:ext cx="303580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004080"/>
                </a:solidFill>
                <a:latin typeface="Arial"/>
              </a:rPr>
              <a:t>Sequence of input text tokens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387584" y="6537960"/>
            <a:ext cx="2816352" cy="493776"/>
          </a:xfrm>
          <a:prstGeom prst="roundRect">
            <a:avLst/>
          </a:prstGeom>
          <a:solidFill>
            <a:srgbClr val="F6F4EC"/>
          </a:solidFill>
          <a:ln w="13970">
            <a:solidFill>
              <a:srgbClr val="9C8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533888" y="6611112"/>
            <a:ext cx="25237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40" b="1">
                <a:solidFill>
                  <a:srgbClr val="554C33"/>
                </a:solidFill>
                <a:latin typeface="Arial"/>
              </a:rPr>
              <a:t>sample reddit text ...
"I feel worried but hopeful
about the final exam"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1137392" y="2852928"/>
            <a:ext cx="1417320" cy="1755648"/>
          </a:xfrm>
          <a:prstGeom prst="roundRect">
            <a:avLst/>
          </a:prstGeom>
          <a:solidFill>
            <a:srgbClr val="FFF8D8"/>
          </a:solidFill>
          <a:ln w="15240">
            <a:solidFill>
              <a:srgbClr val="708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137392" y="2852928"/>
            <a:ext cx="1417320" cy="237744"/>
          </a:xfrm>
          <a:prstGeom prst="rect">
            <a:avLst/>
          </a:prstGeom>
          <a:solidFill>
            <a:srgbClr val="7D9430"/>
          </a:solidFill>
          <a:ln w="12700">
            <a:solidFill>
              <a:srgbClr val="708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10544" y="2871216"/>
            <a:ext cx="1261872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Evaluation + IG stack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338560" y="3182112"/>
            <a:ext cx="1005840" cy="310896"/>
          </a:xfrm>
          <a:prstGeom prst="roundRect">
            <a:avLst/>
          </a:prstGeom>
          <a:solidFill>
            <a:srgbClr val="F6FAE8"/>
          </a:solidFill>
          <a:ln w="12700">
            <a:solidFill>
              <a:srgbClr val="A5B8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393424" y="3218688"/>
            <a:ext cx="89611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41581F"/>
                </a:solidFill>
                <a:latin typeface="Arial"/>
              </a:rPr>
              <a:t>Per-label threshold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338560" y="3584448"/>
            <a:ext cx="1005840" cy="310896"/>
          </a:xfrm>
          <a:prstGeom prst="roundRect">
            <a:avLst/>
          </a:prstGeom>
          <a:solidFill>
            <a:srgbClr val="F6FAE8"/>
          </a:solidFill>
          <a:ln w="12700">
            <a:solidFill>
              <a:srgbClr val="A5B8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393424" y="3621024"/>
            <a:ext cx="89611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41581F"/>
                </a:solidFill>
                <a:latin typeface="Arial"/>
              </a:rPr>
              <a:t>IG token heatmap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1338560" y="3986784"/>
            <a:ext cx="1005840" cy="310896"/>
          </a:xfrm>
          <a:prstGeom prst="roundRect">
            <a:avLst/>
          </a:prstGeom>
          <a:solidFill>
            <a:srgbClr val="F6FAE8"/>
          </a:solidFill>
          <a:ln w="12700">
            <a:solidFill>
              <a:srgbClr val="A5B8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393424" y="4023360"/>
            <a:ext cx="89611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41581F"/>
                </a:solidFill>
                <a:latin typeface="Arial"/>
              </a:rPr>
              <a:t>Metric summary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1119104" y="1993392"/>
            <a:ext cx="1444752" cy="512064"/>
          </a:xfrm>
          <a:prstGeom prst="roundRect">
            <a:avLst/>
          </a:prstGeom>
          <a:solidFill>
            <a:srgbClr val="F4F8FF"/>
          </a:solidFill>
          <a:ln w="12700">
            <a:solidFill>
              <a:srgbClr val="B7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1228832" y="2157984"/>
            <a:ext cx="146304" cy="146304"/>
          </a:xfrm>
          <a:prstGeom prst="rect">
            <a:avLst/>
          </a:prstGeom>
          <a:solidFill>
            <a:srgbClr val="E1EAFE"/>
          </a:solidFill>
          <a:ln w="11430">
            <a:solidFill>
              <a:srgbClr val="7D9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484864" y="2157984"/>
            <a:ext cx="146304" cy="146304"/>
          </a:xfrm>
          <a:prstGeom prst="rect">
            <a:avLst/>
          </a:prstGeom>
          <a:solidFill>
            <a:srgbClr val="E1EAFE"/>
          </a:solidFill>
          <a:ln w="11430">
            <a:solidFill>
              <a:srgbClr val="7D9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740896" y="2157984"/>
            <a:ext cx="146304" cy="146304"/>
          </a:xfrm>
          <a:prstGeom prst="rect">
            <a:avLst/>
          </a:prstGeom>
          <a:solidFill>
            <a:srgbClr val="E1EAFE"/>
          </a:solidFill>
          <a:ln w="11430">
            <a:solidFill>
              <a:srgbClr val="7D9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996928" y="2157984"/>
            <a:ext cx="146304" cy="146304"/>
          </a:xfrm>
          <a:prstGeom prst="rect">
            <a:avLst/>
          </a:prstGeom>
          <a:solidFill>
            <a:srgbClr val="E1EAFE"/>
          </a:solidFill>
          <a:ln w="11430">
            <a:solidFill>
              <a:srgbClr val="7D9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2289536" y="2084832"/>
            <a:ext cx="146304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F2937"/>
                </a:solidFill>
                <a:latin typeface="Arial"/>
              </a:rPr>
              <a:t>...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28832" y="1773936"/>
            <a:ext cx="12252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004080"/>
                </a:solidFill>
                <a:latin typeface="Arial"/>
              </a:rPr>
              <a:t>Per-class decisions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314432" y="841248"/>
            <a:ext cx="2560320" cy="713232"/>
          </a:xfrm>
          <a:prstGeom prst="roundRect">
            <a:avLst/>
          </a:prstGeom>
          <a:solidFill>
            <a:srgbClr val="F8FAFC"/>
          </a:solidFill>
          <a:ln w="20320">
            <a:solidFill>
              <a:srgbClr val="6E83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0424160" y="978408"/>
            <a:ext cx="347472" cy="329184"/>
          </a:xfrm>
          <a:prstGeom prst="roundRect">
            <a:avLst/>
          </a:prstGeom>
          <a:solidFill>
            <a:srgbClr val="F4F8FF"/>
          </a:solidFill>
          <a:ln w="12700">
            <a:solidFill>
              <a:srgbClr val="6E83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881360" y="950976"/>
            <a:ext cx="18470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Arial"/>
              </a:rPr>
              <a:t>Final emotion report
(labels, scores, heatmap)</a:t>
            </a:r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359152" y="1847088"/>
            <a:ext cx="429768" cy="274320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169663" y="2084831"/>
            <a:ext cx="0" cy="402337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910328" y="4873752"/>
            <a:ext cx="0" cy="429768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910328" y="5650992"/>
            <a:ext cx="0" cy="310896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245352" y="6419088"/>
            <a:ext cx="320040" cy="0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8467344" y="6400800"/>
            <a:ext cx="1591056" cy="0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10085832" y="5559552"/>
            <a:ext cx="356616" cy="0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1795760" y="6336792"/>
            <a:ext cx="0" cy="201168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1841480" y="4059936"/>
            <a:ext cx="0" cy="676656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1850624" y="2505456"/>
            <a:ext cx="0" cy="347472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1850624" y="1572768"/>
            <a:ext cx="0" cy="420624"/>
          </a:xfrm>
          <a:prstGeom prst="line">
            <a:avLst/>
          </a:prstGeom>
          <a:ln w="25400">
            <a:solidFill>
              <a:srgbClr val="004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438912" y="7543800"/>
            <a:ext cx="13716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50">
                <a:solidFill>
                  <a:srgbClr val="004080"/>
                </a:solidFill>
                <a:latin typeface="Arial"/>
              </a:rPr>
              <a:t>Editable vector diagram generated with python-pptx and adapted to the user's detailed reference style.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
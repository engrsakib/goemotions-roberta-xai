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rial"/>
              </a:rPr>
              <a:t>GoEmotions-RoBERTa-XAI Linear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58368"/>
            <a:ext cx="1243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4080"/>
                </a:solidFill>
                <a:latin typeface="Arial"/>
              </a:rPr>
              <a:t>Simplified straight-line version of the full training and deployment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Environment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75104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1206" y="2130552"/>
            <a:ext cx="660562" cy="201168"/>
          </a:xfrm>
          <a:prstGeom prst="roundRect">
            <a:avLst/>
          </a:prstGeom>
          <a:solidFill>
            <a:srgbClr val="FFEB3B"/>
          </a:solidFill>
          <a:ln w="127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04080"/>
                </a:solidFill>
                <a:latin typeface="Arial"/>
              </a:rPr>
              <a:t>Key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Load, map, clean,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Distribution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Baselines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TF-IDF LogReg / SVM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8422" y="2130552"/>
            <a:ext cx="660562" cy="201168"/>
          </a:xfrm>
          <a:prstGeom prst="roundRect">
            <a:avLst/>
          </a:prstGeom>
          <a:solidFill>
            <a:srgbClr val="FFEB3B"/>
          </a:solidFill>
          <a:ln w="127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04080"/>
                </a:solidFill>
                <a:latin typeface="Arial"/>
              </a:rPr>
              <a:t>Key 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Transformer fine-tuning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1392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6256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Metrics and 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70464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026566" y="2130552"/>
            <a:ext cx="660562" cy="201168"/>
          </a:xfrm>
          <a:prstGeom prst="roundRect">
            <a:avLst/>
          </a:prstGeom>
          <a:solidFill>
            <a:srgbClr val="FFEB3B"/>
          </a:solidFill>
          <a:ln w="127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04080"/>
                </a:solidFill>
                <a:latin typeface="Arial"/>
              </a:rPr>
              <a:t>Key Innovation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3616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XAI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1904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Integrated Gradients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89536" y="2331720"/>
            <a:ext cx="1572768" cy="1444752"/>
          </a:xfrm>
          <a:prstGeom prst="roundRect">
            <a:avLst/>
          </a:prstGeom>
          <a:solidFill>
            <a:srgbClr val="E6F2FF"/>
          </a:solidFill>
          <a:ln w="2286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0" y="2404872"/>
            <a:ext cx="1463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Stage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62688" y="266090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80976" y="30906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Saved model package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28800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47872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6944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86016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05088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24160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143232" y="3054096.0"/>
            <a:ext cx="146304" cy="0.0"/>
          </a:xfrm>
          <a:prstGeom prst="line">
            <a:avLst/>
          </a:prstGeom>
          <a:ln w="27940">
            <a:solidFill>
              <a:srgbClr val="00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120640" y="4617720"/>
            <a:ext cx="4389120" cy="420624"/>
          </a:xfrm>
          <a:prstGeom prst="roundRect">
            <a:avLst/>
          </a:prstGeom>
          <a:solidFill>
            <a:srgbClr val="FFEB3B"/>
          </a:solidFill>
          <a:ln w="1397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4080"/>
                </a:solidFill>
                <a:latin typeface="Arial"/>
              </a:rPr>
              <a:t>Highlighted blocks mark core method contributions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7452360"/>
            <a:ext cx="1371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4080"/>
                </a:solidFill>
                <a:latin typeface="Arial"/>
              </a:rPr>
              <a:t>Editable PowerPoint vector layout generated with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